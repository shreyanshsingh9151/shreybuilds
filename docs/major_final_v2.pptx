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64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1C33A-423E-FD0C-0CBC-2A7CE713B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993B8-FEC5-44DF-6586-C81D3AEDC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FF71-306F-0087-D968-5D5A7797D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ED7E-65A8-467E-D2A0-0CE57CC2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F3150-735D-63BD-913F-047A241D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41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8FA1E-E083-3348-EDAC-A93B3A66D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C4741-8E81-EB29-CCC8-F9CA67A69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7614E-6751-C446-8CB3-55AF32E0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4261D-456A-093B-BBCE-D65EEC344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77041-56CC-9F7A-B50F-573B60CD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839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0443-D575-A951-DF73-C264A1E97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932B2-A27A-2B7D-CBF4-9E5085B6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60CD6-B6EA-865C-49FD-B056EC35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C99F8-AAD6-BA6A-6E46-8A62A85F6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59535-B038-5CF7-5327-C7B01104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85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8174-59E9-26CB-EBCA-835B3DCD0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A2D2E-EF85-848D-043A-5578863E3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BD87F-AA1C-300C-EEC9-D3E126D29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A3A84-EA7A-706F-7B49-76616240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7568B-1B80-3577-BA16-749F15CD3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72DB7-D9F1-7D8A-1E70-7BE5194B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535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3F92-BF13-FE19-8757-D7D564A1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609B1-5EF9-6F59-D236-72FD0C2E4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C41E7-75E8-35BE-70F9-DA75B05A4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FBF55-FA26-571D-1F79-F57C5E74D5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C9EC20-837A-57C4-F187-FD19D0666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2922C-3D2D-3FD1-0B8E-042A64A76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27A4F-9244-ECB3-A96A-38286231F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F348AC-A86A-6570-A00B-EA6563AF8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5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97655-243C-93B1-E8C4-49233A27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B395C-1789-D3F4-BE66-90A59166B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A01D2-E10C-44C9-7855-753D0881E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F1CCA-B927-CC4F-FDC3-9C5526E4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84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AA829A-A8F0-2C1A-C392-AE0D7F5A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81AA01-D969-3678-9357-E847A445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32252-EAAC-0516-1D24-2D935068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035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342A-FCFB-A7A3-0322-3FDFF61EB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D1D62-0054-40E4-37A2-0693092AA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0932A-63C9-8A48-F9DE-918E21B70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E51C2-35E9-5D3A-7532-F2015C78C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04EDD-63F5-79DA-38DC-93BA10FF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4F89D-ACAF-7FC6-9749-79A04FA3B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614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D147-4149-3983-6215-766ADA9B2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A553F-E743-30E6-071C-995D46DCC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8B8FA-FB9B-74D2-F653-7012C376D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7BED5-FD8D-875C-8A12-9E68A8AAC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5E5F3-1462-9C13-0B92-2C8B8C00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613BB-DCF7-83B8-1DB0-BEFB97170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33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F4FE3-897E-AAA7-2BF4-B8617E95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59852-6388-2145-96C8-3A8186B1C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693CB-B818-9510-711E-B0D08EAE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F1FDD-BE76-D626-8097-D4D011E3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22CD5-D95A-7659-F982-3B602A00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14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8DD4B-902F-5245-3129-4934FF28B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EC37A-697F-9A0E-C7CE-684DF07EB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3822-6DA6-DE44-C5E3-9FF0298BE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02EDE-CE9F-70F7-4AFC-B67311106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10549-4A70-3A34-5FB0-3BF7D374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4777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605334-5755-BDB4-D168-2857034B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8C85E-9795-4043-CF1B-5CF757702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2D2A1-8CC5-3EDF-7F21-BFCA55627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D9A17-A012-40F3-BB1E-BF1E9602C58E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B0E8D-6F14-FE04-8F96-7B978B562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F7A35-48A6-DB2B-44F7-52C5A08F5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06BEB-0B31-4AB7-92D6-D2F92BBD6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8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80C14-0AC3-E3B9-7CA9-98311D43B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459" y="275304"/>
            <a:ext cx="10709752" cy="1177715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+mn-lt"/>
              </a:rPr>
              <a:t>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B4CDA-29A1-2329-170E-9D5466ACC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794" y="1951349"/>
            <a:ext cx="11592232" cy="470623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Presentation </a:t>
            </a:r>
          </a:p>
          <a:p>
            <a:r>
              <a:rPr lang="en-IN" dirty="0"/>
              <a:t>On </a:t>
            </a:r>
          </a:p>
          <a:p>
            <a:r>
              <a:rPr lang="en-IN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300" b="1" dirty="0"/>
              <a:t>EMAIL AUTOMATION USING LLMS</a:t>
            </a:r>
            <a:endParaRPr lang="en-IN" sz="33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Number: 26</a:t>
            </a:r>
          </a:p>
          <a:p>
            <a:pPr algn="l"/>
            <a:r>
              <a:rPr lang="en-IN" sz="18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endParaRPr lang="en-IN" sz="1800" kern="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/>
              <a:t>Presented by 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VIVEK KUMAR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VATSAL CHAUDHARY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VISHVESHVER</a:t>
            </a:r>
          </a:p>
          <a:p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SHREYANSH SINGH RATHORE</a:t>
            </a: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Under the Supervision</a:t>
            </a:r>
          </a:p>
          <a:p>
            <a:r>
              <a:rPr lang="en-IN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DR.  ASIF KHAN                                                     </a:t>
            </a:r>
            <a:endParaRPr lang="en-IN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</a:rPr>
              <a:t>(Department of CSE _GNIOT Greater Noida, India)</a:t>
            </a:r>
            <a:endParaRPr lang="en-IN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0416"/>
            <a:ext cx="9908088" cy="1252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1156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E62D-FBF6-98F8-F0DC-AF39400C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634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</a:t>
            </a:r>
            <a:br>
              <a:rPr lang="en-IN" sz="4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</a:t>
            </a:r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</a:t>
            </a:r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IN" sz="31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Table of  Contents</a:t>
            </a:r>
            <a:br>
              <a:rPr lang="en-IN" sz="4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34047-670E-98C8-5F75-A8A3D701E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6404"/>
            <a:ext cx="10515600" cy="488942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1.</a:t>
            </a: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IN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3.Literature Survey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4.Proposed Model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5.Discussion About Methodology &amp; Algorithm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6.Conclusion &amp; Future Work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IN" sz="31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7. Research Paper Progress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3100" b="1" dirty="0">
                <a:latin typeface="Times New Roman" pitchFamily="18" charset="0"/>
                <a:cs typeface="Times New Roman" pitchFamily="18" charset="0"/>
              </a:rPr>
              <a:t>8.References</a:t>
            </a:r>
            <a:endParaRPr lang="en-IN" sz="31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800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2A226EF-5B31-D963-1B20-19BA15187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2"/>
            <a:ext cx="9908088" cy="582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588484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3E7CF503-5377-E917-8CCA-421707962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1.</a:t>
            </a: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01D2A85-B5F3-DEFD-0BCA-11CD8BC90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/>
            <a:r>
              <a:rPr sz="1800" b="0" lang="en-US" dirty="0">
                <a:latin typeface="Times New Roman"/>
              </a:rPr>
              <a:t>Email handling is a high-frequency workflow where users repeatedly read long threads, infer intent, and draft responses under time pressure.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The core issue is not only writing speed; it is decision quality: identifying urgency, selecting tone, and preserving thread context without missing commitments.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This project frames email automation as an algorithmic pipeline: thread extraction -&gt; intent/priority inference -&gt; response planning -&gt; generation -&gt; post-validation.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The system outputs structured assistance (summary, reply draft, rewrite, classification, priority, action items) so users can review quickly and send with confidence.</a:t>
            </a:r>
          </a:p>
        </p:txBody>
      </p:sp>
      <p:pic>
        <p:nvPicPr>
          <p:cNvPr id="4" name="Picture 2">
            <a:extLst>
              <a:ext uri="{FF2B5EF4-FFF2-40B4-BE49-F238E27FC236}">
                <ns2:creationId id="{8B8A7C87-215C-0F58-3D2B-5270044DB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2"/>
            <a:ext cx="9908088" cy="725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</p:pic>
    </p:spTree>
    <p:extLst>
      <p:ext uri="{BB962C8B-B14F-4D97-AF65-F5344CB8AC3E}">
        <ns5:creationId val="1894760573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5C4BD4-A3F0-AA8F-14E9-35D298A1F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3F6EFC84-4322-6BD4-ADC5-022BD44F2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/>
            <a:r>
              <a:rPr sz="1800" b="0" lang="en-US" dirty="0">
                <a:latin typeface="Times New Roman"/>
              </a:rPr>
              <a:t>Formalize a context-extraction methodology that converts noisy thread content into normalized input (subject, sender cues, semantic body blocks).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Design an adaptive decision layer that maps task intent (summarize/reply/rewrite/classify) to generation strategy while preserving output consistency.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Implement priority scoring and action-item extraction so outputs are decision-oriented, not only text-completion outputs.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Evaluate practical productivity gains using response relevance, tone alignment, summary compression quality, and drafting-time reduction.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Build an observability loop that records request volume, latency, token estimate, and per-action cost for continuous prompt and routing improvement.</a:t>
            </a:r>
          </a:p>
        </p:txBody>
      </p:sp>
      <p:pic>
        <p:nvPicPr>
          <p:cNvPr id="4" name="Picture 2">
            <a:extLst>
              <a:ext uri="{FF2B5EF4-FFF2-40B4-BE49-F238E27FC236}">
                <ns2:creationId id="{57B8A755-68F2-8AE4-8F00-137FC8CAC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914400" y="7728"/>
            <a:ext cx="9756742" cy="77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</p:pic>
      <p:sp>
        <p:nvSpPr>
          <p:cNvPr id="6" name="TextBox 5">
            <a:extLst>
              <a:ext uri="{FF2B5EF4-FFF2-40B4-BE49-F238E27FC236}">
                <ns2:creationId id="{26B1CA7F-9132-80B1-F01C-D46C6A73DCF5}"/>
              </a:ext>
            </a:extLst>
          </p:cNvPr>
          <p:cNvSpPr txBox="1"/>
          <p:nvPr/>
        </p:nvSpPr>
        <p:spPr>
          <a:xfrm>
            <a:off x="914400" y="915233"/>
            <a:ext cx="9973559" cy="822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ns5:creationId val="3274365680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8E7A865-C68A-F1FD-60B2-3FD0DEF3D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3.Literature Survey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4A2EE86C-38C9-FEF7-7366-0AEFE95EC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/>
            <a:r>
              <a:rPr sz="1700" b="0" lang="en-US" dirty="0">
                <a:latin typeface="Times New Roman"/>
              </a:rPr>
              <a:t>Transformer-based work established long-context sequence modeling, enabling summarization of multi-message email threads with dependency preservation.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Prompt-engineering studies show that explicit structure constraints improve reliability for professional communication tasks compared with free-form prompting.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Earlier email automation systems were largely template/rule-driven; they improved speed but failed on context transfer, personalization, and intent nuance.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Recent LLM assistants improve fluency, yet papers and product analyses report instability in tone control and actionability without post-processing stages.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Research gap: an end-to-end methodology that combines context extraction, adaptive generation, and decision-focused post-processing in one workflow.</a:t>
            </a:r>
          </a:p>
        </p:txBody>
      </p:sp>
      <p:pic>
        <p:nvPicPr>
          <p:cNvPr id="4" name="Picture 2">
            <a:extLst>
              <a:ext uri="{FF2B5EF4-FFF2-40B4-BE49-F238E27FC236}">
                <ns2:creationId id="{F921168B-35B6-1243-D54F-1607FFEAD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1"/>
            <a:ext cx="9908088" cy="753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</p:pic>
    </p:spTree>
    <p:extLst>
      <p:ext uri="{BB962C8B-B14F-4D97-AF65-F5344CB8AC3E}">
        <ns5:creationId val="1416763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2701E-2861-D008-D735-939643E7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1672" cy="1284566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4.</a:t>
            </a: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Model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D2985A3-8D03-299F-EC97-C3C0DD4F1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1"/>
            <a:ext cx="9908088" cy="621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833BE62-214E-9DB4-932F-40CB0F4FB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98954"/>
            <a:ext cx="10690781" cy="948885"/>
          </a:xfrm>
        </p:spPr>
      </p:pic>
    </p:spTree>
    <p:extLst>
      <p:ext uri="{BB962C8B-B14F-4D97-AF65-F5344CB8AC3E}">
        <p14:creationId xmlns:p14="http://schemas.microsoft.com/office/powerpoint/2010/main" val="185518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919F-7E02-92B9-A1BF-6E43A6516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371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5.Discussion About Methodology &amp; Algorithm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856CAA-56FD-DA5D-1856-90994EC8A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875" y="970962"/>
            <a:ext cx="4333972" cy="5778630"/>
          </a:xfr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79BDDAEB-0420-998D-2A33-9F91412F4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55" y="-16117"/>
            <a:ext cx="9908088" cy="600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8057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9ADA-DD5D-2E62-087A-AE7F47E3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502141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6.Conclusion &amp; Future Work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8E7C0-27EE-35C8-84BF-2ED0144D3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618"/>
            <a:ext cx="10515600" cy="52202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200" b="1" dirty="0" lang="en-US">
                <a:latin typeface="Times New Roman"/>
              </a:rPr>
              <a:t>Conclusion: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LLM-based email automation systems can significantly reduce the manual effort and time invested in professional email drafting and communication.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The proposed architecture demonstrates effective integration of prompt construction, LLM processing, and post-processing layers to generate contextually appropriate and personalized email content.</a:t>
            </a:r>
          </a:p>
          <a:p>
            <a:endParaRPr lang="en-US" dirty="0"/>
          </a:p>
          <a:p>
            <a:pPr marL="0" indent="0">
              <a:buNone/>
            </a:pPr>
            <a:r>
              <a:rPr sz="2200" b="1" dirty="0" lang="en-US">
                <a:latin typeface="Times New Roman"/>
              </a:rPr>
              <a:t>Future Work:</a:t>
            </a:r>
          </a:p>
          <a:p>
            <a:endParaRPr lang="en-US" dirty="0"/>
          </a:p>
          <a:p>
            <a:pPr/>
            <a:r>
              <a:rPr sz="1700" b="0" lang="en-US" dirty="0">
                <a:latin typeface="Times New Roman"/>
              </a:rPr>
              <a:t>Multilingual email generation to support global enterprise communication.</a:t>
            </a:r>
          </a:p>
          <a:p>
            <a:pPr/>
            <a:r>
              <a:rPr sz="1700" b="0" lang="en-US" dirty="0">
                <a:latin typeface="Times New Roman"/>
              </a:rPr>
              <a:t>Improved personalization through advanced user preference learning and behavioral analysis.</a:t>
            </a:r>
          </a:p>
          <a:p>
            <a:pPr/>
            <a:r>
              <a:rPr sz="1700" b="0" lang="en-US" dirty="0">
                <a:latin typeface="Times New Roman"/>
              </a:rPr>
              <a:t>Enterprise system integration with CRM, ERP, and collaboration platforms.</a:t>
            </a:r>
          </a:p>
          <a:p>
            <a:pPr/>
            <a:r>
              <a:rPr sz="1700" b="0" lang="en-US" dirty="0">
                <a:latin typeface="Times New Roman"/>
              </a:rPr>
              <a:t>Context-aware AI assistants capable of proactive email management and intelligent scheduling.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AC7F0DC-EEB6-B999-5D14-D92BF552B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106" y="64835"/>
            <a:ext cx="9908088" cy="600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930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8873-C8A5-0205-41BE-9DF5EBA0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046"/>
            <a:ext cx="10515600" cy="961535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7. Research Paper Progress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CC866-6F3C-F0A3-1B35-BFACD45A2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568"/>
            <a:ext cx="10515600" cy="5052767"/>
          </a:xfrm>
        </p:spPr>
        <p:txBody>
          <a:bodyPr>
            <a:noAutofit/>
          </a:bodyPr>
          <a:lstStyle/>
          <a:p>
            <a:pPr/>
            <a:r>
              <a:rPr sz="1800" b="0" lang="en-US" dirty="0">
                <a:latin typeface="Times New Roman"/>
              </a:rPr>
              <a:t>Architecture Design: The system architecture comprising the user interface layer, backend processing layer, LLM processing layer, post-processing layer, and data intelligence layer has been finalized.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Literature Review Completion: A comprehensive review of transformer-based models, prompt engineering techniques, and prior email automation systems has been completed and documented.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Prototype System Development: An initial prototype demonstrating core email generation, summarization, and tone rewriting capabilities has been developed and tested.</a:t>
            </a:r>
          </a:p>
          <a:p>
            <a:endParaRPr lang="en-US" dirty="0"/>
          </a:p>
          <a:p>
            <a:pPr/>
            <a:r>
              <a:rPr sz="1800" b="0" lang="en-US" dirty="0">
                <a:latin typeface="Times New Roman"/>
              </a:rPr>
              <a:t>Experimental Evaluation: Benchmarking and evaluation metrics for measuring productivity improvements, response quality, and user satisfaction are being defined for systematic assessment.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6E60EEA-3594-0403-B743-2E260839E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2"/>
            <a:ext cx="9908088" cy="582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1679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4D8C4-767F-B311-1461-4598EB08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32803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8.References</a:t>
            </a:r>
            <a:b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C9FD8-7F7E-2B5A-CDC0-8E4089F01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840"/>
            <a:ext cx="10515600" cy="53441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[1] Vaswani, A. et al., "Attention Is All You Need," Advances in Neural Information Processing Systems (NeurIPS), 2017.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[2] Schulhoff, S. et al., "The Prompt Report: A Systematic Survey of Prompting Techniques," arXiv preprint, 2024.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[3] Google, "Gemini API Reference," Google AI for Developers, 2024. [Online]. Available: https://ai.google.dev/docs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[4] Al-Debagy, O. and Martinek, P., "A Comparative Review of Microservices and Monolithic Architectures," Budapest University of Technology and Economics, 2018.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[5] Dilip, K., "Review on SMTP Protocol for E-Mail Systems," Galgotias University, Department of Computer Science and Engineering, 2020.</a:t>
            </a:r>
          </a:p>
          <a:p>
            <a:endParaRPr lang="en-US" dirty="0"/>
          </a:p>
          <a:p>
            <a:pPr marL="0" indent="0">
              <a:buNone/>
            </a:pPr>
            <a:r>
              <a:rPr sz="1500" b="0" dirty="0" lang="en-US">
                <a:latin typeface="Times New Roman"/>
              </a:rPr>
              <a:t>[6] Chen, M. et al., "Leveraging Generative AI in Enterprise Applications," IEEE Conference on AI and Business Operations, 2023.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E2E6461-3BF6-D868-15A3-FB93B542F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0112"/>
            <a:ext cx="9908088" cy="51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5248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683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s</vt:lpstr>
      <vt:lpstr>                                                                                            Table of  Contents </vt:lpstr>
      <vt:lpstr>  1.Introduction </vt:lpstr>
      <vt:lpstr>  </vt:lpstr>
      <vt:lpstr>  3.Literature Survey </vt:lpstr>
      <vt:lpstr> 4.Proposed Model </vt:lpstr>
      <vt:lpstr> 5.Discussion About Methodology &amp; Algorithm </vt:lpstr>
      <vt:lpstr> 6.Conclusion &amp; Future Work</vt:lpstr>
      <vt:lpstr> 7. Research Paper Progress </vt:lpstr>
      <vt:lpstr> 8.References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ICSCAI 2024 4,5,6 July 2024,LLOYD Institute of Engineering &amp; Technology Greater Noida,India</dc:title>
  <dc:creator>Arjun Singh</dc:creator>
  <cp:lastModifiedBy>Vatsal Chaudhary</cp:lastModifiedBy>
  <cp:revision>32</cp:revision>
  <dcterms:created xsi:type="dcterms:W3CDTF">2024-07-02T10:49:33Z</dcterms:created>
  <dcterms:modified xsi:type="dcterms:W3CDTF">2026-03-10T16:56:58Z</dcterms:modified>
</cp:coreProperties>
</file>