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976088-8B5D-4CBB-BF87-BBFBCFF444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58C44F-C505-4568-8A0E-C1804D6FC7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4306332-1746-49AD-A26F-FCAA5C2F72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D0E4F08-FF7E-4DFA-9690-271FB75D6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1C96E9B-559D-457A-A6BD-A667976BC2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1E3A231-2C5B-4054-85E4-32BF533472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6009616-C502-43D4-9F9B-B91ED14AC5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C92E853-85E1-43F1-B757-C5A74111DB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CD47DDD-FC51-4685-B1D5-ED1178E01D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71DA2E4-2EDA-4DD0-AF16-D930007E3F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32C629B-76B3-4DD5-812A-140C81106E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4710E3-F94D-4779-B6A9-511FF980278E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B2D7AE-F7D6-4B8E-8390-A47EB8AF755A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334C88-3EB1-47D1-ACDF-B5DCF03A2FF0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9D2427-1A9E-43C2-978A-7D246A19F2BB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93BEA5-9BF6-4B2D-9E6A-81D64AC4B0DD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59CCD1-7E58-4860-B546-A802EA26563A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F7B926-6D23-49E9-94FB-3EAC82E9A7E8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2753F2-D04D-465D-A122-27DC3A97ED01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F2C961-990A-415B-87B3-FA57063615DC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E10C86-E00C-4967-BCD7-7BCC78C4B794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2A8D2-7CE6-4492-8061-63F951233F79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01280" y="275400"/>
            <a:ext cx="107092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66600" y="1694880"/>
            <a:ext cx="11592000" cy="470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6219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Presentation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On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1" lang="en-IN" sz="3300" spc="-1" strike="noStrike">
                <a:solidFill>
                  <a:schemeClr val="dk1"/>
                </a:solidFill>
                <a:latin typeface="Calibri"/>
                <a:ea typeface="Times New Roman"/>
              </a:rPr>
              <a:t>EMAIL AUTOMATION USING LLMS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Group Number: 26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  <a:ea typeface="Times New Roman"/>
              </a:rPr>
              <a:t>Presented by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VIVEK KUMAR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VATSAL CHAUDHARY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VISHVESHVER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SHREYANSH SINGH RATHORE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                                                                                                                                                                    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Under the Supervision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                                                                                                                                                                              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DR.  ASIF KHAN                     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(Department of CSE _GNIOT Greater Noida, India)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Picture 2" descr=""/>
          <p:cNvPicPr/>
          <p:nvPr/>
        </p:nvPicPr>
        <p:blipFill>
          <a:blip r:embed="rId1"/>
          <a:stretch/>
        </p:blipFill>
        <p:spPr>
          <a:xfrm>
            <a:off x="914400" y="200520"/>
            <a:ext cx="9907560" cy="125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9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7731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2060"/>
                </a:solidFill>
                <a:latin typeface="Times New Roman"/>
                <a:ea typeface="Cambria"/>
              </a:rPr>
              <a:t>                             </a:t>
            </a:r>
            <a:br>
              <a:rPr sz="4400"/>
            </a:br>
            <a:r>
              <a:rPr b="1" lang="en-IN" sz="4400" spc="-1" strike="noStrike">
                <a:solidFill>
                  <a:srgbClr val="002060"/>
                </a:solidFill>
                <a:latin typeface="Times New Roman"/>
                <a:ea typeface="Cambria"/>
              </a:rPr>
              <a:t>                             </a:t>
            </a:r>
            <a:br>
              <a:rPr sz="4400"/>
            </a:br>
            <a:r>
              <a:rPr b="1" lang="en-IN" sz="4400" spc="-1" strike="noStrike">
                <a:solidFill>
                  <a:srgbClr val="002060"/>
                </a:solidFill>
                <a:latin typeface="Times New Roman"/>
                <a:ea typeface="Cambria"/>
              </a:rPr>
              <a:t>                             </a:t>
            </a:r>
            <a:br>
              <a:rPr sz="4400"/>
            </a:br>
            <a:r>
              <a:rPr b="1" lang="en-IN" sz="4400" spc="-1" strike="noStrike">
                <a:solidFill>
                  <a:srgbClr val="002060"/>
                </a:solidFill>
                <a:latin typeface="Times New Roman"/>
                <a:ea typeface="Cambria"/>
              </a:rPr>
              <a:t>  </a:t>
            </a:r>
            <a:r>
              <a:rPr b="1" lang="en-IN" sz="3100" spc="-1" strike="noStrike">
                <a:solidFill>
                  <a:srgbClr val="002060"/>
                </a:solidFill>
                <a:latin typeface="Times New Roman"/>
                <a:ea typeface="Cambria"/>
              </a:rPr>
              <a:t>Table of  Contents</a:t>
            </a:r>
            <a:br>
              <a:rPr sz="4400"/>
            </a:b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216440"/>
            <a:ext cx="10515240" cy="48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2845"/>
          </a:bodyPr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3100" spc="-1" strike="noStrike">
                <a:solidFill>
                  <a:srgbClr val="002060"/>
                </a:solidFill>
                <a:latin typeface="Times New Roman"/>
                <a:ea typeface="Cambria"/>
              </a:rPr>
              <a:t>1.</a:t>
            </a:r>
            <a:r>
              <a:rPr b="1" lang="en-IN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Introduction</a:t>
            </a: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2.</a:t>
            </a:r>
            <a:r>
              <a:rPr b="1" lang="en-US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Research Objectives</a:t>
            </a: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3.Literature Survey</a:t>
            </a: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4.Proposed Model</a:t>
            </a: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5.Discussion About Methodology &amp; Algorithm</a:t>
            </a: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6.Conclusion &amp; Future Work</a:t>
            </a: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7. Research Paper Progress</a:t>
            </a: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chemeClr val="dk1"/>
                </a:solidFill>
                <a:latin typeface="Times New Roman"/>
                <a:ea typeface="Cambria"/>
              </a:rPr>
              <a:t>8.References</a:t>
            </a: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2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Picture 2" descr=""/>
          <p:cNvPicPr/>
          <p:nvPr/>
        </p:nvPicPr>
        <p:blipFill>
          <a:blip r:embed="rId1"/>
          <a:stretch/>
        </p:blipFill>
        <p:spPr>
          <a:xfrm>
            <a:off x="914400" y="170280"/>
            <a:ext cx="9907560" cy="58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2281" lnSpcReduction="20000"/>
          </a:bodyPr>
          <a:p>
            <a:pPr indent="0" algn="ctr" defTabSz="914400">
              <a:lnSpc>
                <a:spcPct val="90000"/>
              </a:lnSpc>
              <a:buNone/>
            </a:pPr>
            <a:br>
              <a:rPr sz="4400"/>
            </a:br>
            <a:br>
              <a:rPr sz="4400"/>
            </a:br>
            <a:r>
              <a:rPr b="1" lang="en-IN" sz="3600" spc="-1" strike="noStrike">
                <a:solidFill>
                  <a:srgbClr val="002060"/>
                </a:solidFill>
                <a:latin typeface="Times New Roman"/>
                <a:ea typeface="Cambria"/>
              </a:rPr>
              <a:t>1.</a:t>
            </a:r>
            <a:r>
              <a:rPr b="1" lang="en-IN" sz="3600" spc="-1" strike="noStrike">
                <a:solidFill>
                  <a:schemeClr val="dk1"/>
                </a:solidFill>
                <a:latin typeface="Times New Roman"/>
                <a:ea typeface="Cambria"/>
              </a:rPr>
              <a:t>Introduction</a:t>
            </a:r>
            <a:br>
              <a:rPr sz="44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Email handling is a high-frequency workflow where users repeatedly read long threads, infer intent, and draft responses under time pressure.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The core issue is not only writing speed; it is decision quality: identifying urgency, selecting tone, and preserving thread context without missing commitments.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This project frames email automation as an algorithmic pipeline: thread extraction -&gt; intent/priority inference -&gt; response planning -&gt; generation -&gt; post-validation.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The system outputs structured assistance (summary, reply draft, rewrite, classification, priority, action items) so users can review quickly and send with confidence.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4" name="Picture 2" descr=""/>
          <p:cNvPicPr/>
          <p:nvPr/>
        </p:nvPicPr>
        <p:blipFill>
          <a:blip r:embed="rId1"/>
          <a:stretch/>
        </p:blipFill>
        <p:spPr>
          <a:xfrm>
            <a:off x="914400" y="170280"/>
            <a:ext cx="9907560" cy="72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5236"/>
          </a:bodyPr>
          <a:p>
            <a:pPr indent="0" defTabSz="914400">
              <a:lnSpc>
                <a:spcPct val="90000"/>
              </a:lnSpc>
              <a:buNone/>
            </a:pPr>
            <a:br>
              <a:rPr sz="4400"/>
            </a:br>
            <a:br>
              <a:rPr sz="4400"/>
            </a:b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592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Formalize a context-extraction methodology that converts noisy thread content into normalized input (subject, sender cues, semantic body blocks).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Design an adaptive decision layer that maps task intent (summarize/reply/rewrite/classify) to generation strategy while preserving output consistency.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Implement priority scoring and action-item extraction so outputs are decision-oriented, not only text-completion outputs.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Evaluate practical productivity gains using response relevance, tone alignment, summary compression quality, and drafting-time reduction.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Build an observability loop that records request volume, latency, token estimate, and per-action cost for continuous prompt and routing improvement.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7" name="Picture 2" descr=""/>
          <p:cNvPicPr/>
          <p:nvPr/>
        </p:nvPicPr>
        <p:blipFill>
          <a:blip r:embed="rId1"/>
          <a:stretch/>
        </p:blipFill>
        <p:spPr>
          <a:xfrm>
            <a:off x="914400" y="228600"/>
            <a:ext cx="9756360" cy="772200"/>
          </a:xfrm>
          <a:prstGeom prst="rect">
            <a:avLst/>
          </a:prstGeom>
          <a:ln w="0">
            <a:noFill/>
          </a:ln>
        </p:spPr>
      </p:pic>
      <p:sp>
        <p:nvSpPr>
          <p:cNvPr id="78" name="TextBox 5"/>
          <p:cNvSpPr/>
          <p:nvPr/>
        </p:nvSpPr>
        <p:spPr>
          <a:xfrm>
            <a:off x="914400" y="656640"/>
            <a:ext cx="99730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200000"/>
              </a:lnSpc>
              <a:tabLst>
                <a:tab algn="l" pos="0"/>
              </a:tabLst>
            </a:pPr>
            <a:r>
              <a:rPr b="1" lang="en-IN" sz="2800" spc="-1" strike="noStrike">
                <a:solidFill>
                  <a:schemeClr val="dk1"/>
                </a:solidFill>
                <a:latin typeface="Times New Roman"/>
              </a:rPr>
              <a:t>2.</a:t>
            </a:r>
            <a:r>
              <a:rPr b="1" lang="en-US" sz="2800" spc="-1" strike="noStrike">
                <a:solidFill>
                  <a:schemeClr val="dk1"/>
                </a:solidFill>
                <a:latin typeface="Times New Roman"/>
              </a:rPr>
              <a:t>Research Objectives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2281" lnSpcReduction="20000"/>
          </a:bodyPr>
          <a:p>
            <a:pPr indent="0" algn="ctr" defTabSz="914400">
              <a:lnSpc>
                <a:spcPct val="90000"/>
              </a:lnSpc>
              <a:buNone/>
            </a:pPr>
            <a:br>
              <a:rPr sz="4400"/>
            </a:br>
            <a:br>
              <a:rPr sz="4400"/>
            </a:br>
            <a:r>
              <a:rPr b="1" lang="en-IN" sz="3600" spc="-1" strike="noStrike">
                <a:solidFill>
                  <a:schemeClr val="dk1"/>
                </a:solidFill>
                <a:latin typeface="Times New Roman"/>
                <a:ea typeface="Cambria"/>
              </a:rPr>
              <a:t>3.Literature Survey</a:t>
            </a:r>
            <a:br>
              <a:rPr sz="44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914400" y="13716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Transformer-based work established long-context sequence modeling, enabling summarization of multi-message email threads with dependency preservation.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Prompt-engineering studies show that explicit structure constraints improve reliability for professional communication tasks compared with free-form prompting.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Earlier email automation systems were largely template/rule-driven; they improved speed but failed on context transfer, personalization, and intent nuance.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Recent LLM assistants improve fluency, yet papers and product analyses report instability in tone control and actionability without post-processing stages.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Research gap: an end-to-end methodology that combines context extraction, adaptive generation, and decision-focused post-processing in one workflow.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1" name="Picture 2" descr=""/>
          <p:cNvPicPr/>
          <p:nvPr/>
        </p:nvPicPr>
        <p:blipFill>
          <a:blip r:embed="rId1"/>
          <a:stretch/>
        </p:blipFill>
        <p:spPr>
          <a:xfrm>
            <a:off x="914400" y="170280"/>
            <a:ext cx="9907560" cy="75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280" cy="12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8418" lnSpcReduction="10000"/>
          </a:bodyPr>
          <a:p>
            <a:pPr indent="0" algn="ctr" defTabSz="914400">
              <a:lnSpc>
                <a:spcPct val="90000"/>
              </a:lnSpc>
              <a:buNone/>
            </a:pPr>
            <a:br>
              <a:rPr sz="4400"/>
            </a:br>
            <a:r>
              <a:rPr b="1" lang="en-IN" sz="4400" spc="-1" strike="noStrike">
                <a:solidFill>
                  <a:schemeClr val="dk1"/>
                </a:solidFill>
                <a:latin typeface="Times New Roman"/>
                <a:ea typeface="Cambria"/>
              </a:rPr>
              <a:t>4.</a:t>
            </a:r>
            <a:r>
              <a:rPr b="1" lang="en-IN" sz="3600" spc="-1" strike="noStrike">
                <a:solidFill>
                  <a:schemeClr val="dk1"/>
                </a:solidFill>
                <a:latin typeface="Times New Roman"/>
                <a:ea typeface="Cambria"/>
              </a:rPr>
              <a:t>Proposed Model</a:t>
            </a:r>
            <a:br>
              <a:rPr sz="44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3" name="Picture 2" descr=""/>
          <p:cNvPicPr/>
          <p:nvPr/>
        </p:nvPicPr>
        <p:blipFill>
          <a:blip r:embed="rId1"/>
          <a:stretch/>
        </p:blipFill>
        <p:spPr>
          <a:xfrm>
            <a:off x="914400" y="170280"/>
            <a:ext cx="9907560" cy="621360"/>
          </a:xfrm>
          <a:prstGeom prst="rect">
            <a:avLst/>
          </a:prstGeom>
          <a:ln w="0">
            <a:noFill/>
          </a:ln>
        </p:spPr>
      </p:pic>
      <p:sp>
        <p:nvSpPr>
          <p:cNvPr id="84" name=""/>
          <p:cNvSpPr txBox="1"/>
          <p:nvPr/>
        </p:nvSpPr>
        <p:spPr>
          <a:xfrm>
            <a:off x="609480" y="5569560"/>
            <a:ext cx="11277720" cy="60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Context-first decision pipeline: normalize thread, infer intent and urgency, plan response, generate structured outputs, and return actionable recommendations.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2"/>
          <a:srcRect l="0" t="9810" r="0" b="40184"/>
          <a:stretch/>
        </p:blipFill>
        <p:spPr>
          <a:xfrm>
            <a:off x="721440" y="1371960"/>
            <a:ext cx="1070856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9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3415" lnSpcReduction="10000"/>
          </a:bodyPr>
          <a:p>
            <a:pPr indent="0" algn="ctr" defTabSz="914400">
              <a:lnSpc>
                <a:spcPct val="90000"/>
              </a:lnSpc>
              <a:buNone/>
            </a:pPr>
            <a:br>
              <a:rPr sz="4400"/>
            </a:b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Cambria"/>
              </a:rPr>
              <a:t>5.Discussion About Methodology &amp; Algorithm</a:t>
            </a:r>
            <a:br>
              <a:rPr sz="44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7" name="Picture 2" descr=""/>
          <p:cNvPicPr/>
          <p:nvPr/>
        </p:nvPicPr>
        <p:blipFill>
          <a:blip r:embed="rId1"/>
          <a:stretch/>
        </p:blipFill>
        <p:spPr>
          <a:xfrm>
            <a:off x="1074600" y="-16200"/>
            <a:ext cx="9907560" cy="60012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rcRect l="1583" t="9810" r="912" b="43518"/>
          <a:stretch/>
        </p:blipFill>
        <p:spPr>
          <a:xfrm>
            <a:off x="1371600" y="1796760"/>
            <a:ext cx="9593280" cy="3200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 txBox="1"/>
          <p:nvPr/>
        </p:nvSpPr>
        <p:spPr>
          <a:xfrm>
            <a:off x="838080" y="5257800"/>
            <a:ext cx="1127772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Eight-step operational flow from raw thread capture to validated output and metric logging for continuous optimization.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50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38641"/>
          </a:bodyPr>
          <a:p>
            <a:pPr indent="0" algn="ctr" defTabSz="914400">
              <a:lnSpc>
                <a:spcPct val="90000"/>
              </a:lnSpc>
              <a:buNone/>
            </a:pPr>
            <a:br>
              <a:rPr sz="4400"/>
            </a:br>
            <a:r>
              <a:rPr b="1" lang="en-IN" sz="3600" spc="-1" strike="noStrike">
                <a:solidFill>
                  <a:schemeClr val="dk1"/>
                </a:solidFill>
                <a:latin typeface="Times New Roman"/>
                <a:ea typeface="Cambria"/>
              </a:rPr>
              <a:t>6.Conclusion &amp; Future Work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86160" y="952200"/>
            <a:ext cx="10515240" cy="52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Times New Roman"/>
              </a:rPr>
              <a:t>Conclusion: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LLM-based email automation systems can significantly reduce the manual effort and time invested in professional email drafting and communication.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The proposed architecture demonstrates effective integration of prompt construction, LLM processing, and post-processing layers to generate contextually appropriate and personalized email content.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Times New Roman"/>
              </a:rPr>
              <a:t>Future Work: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Multilingual email generation to support global enterprise communication.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Improved personalization through advanced user preference learning and behavioral analysis.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Enterprise system integration with CRM, ERP, and collaboration platforms.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imes New Roman"/>
              </a:rPr>
              <a:t>Context-aware AI assistants capable of proactive email management and intelligent scheduling.</a:t>
            </a:r>
            <a:endParaRPr b="0" lang="en-US" sz="17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2" name="Picture 2" descr=""/>
          <p:cNvPicPr/>
          <p:nvPr/>
        </p:nvPicPr>
        <p:blipFill>
          <a:blip r:embed="rId1"/>
          <a:stretch/>
        </p:blipFill>
        <p:spPr>
          <a:xfrm>
            <a:off x="952200" y="64800"/>
            <a:ext cx="9907560" cy="60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509040"/>
            <a:ext cx="10515240" cy="96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9779"/>
          </a:bodyPr>
          <a:p>
            <a:pPr indent="0" algn="ctr" defTabSz="914400">
              <a:lnSpc>
                <a:spcPct val="90000"/>
              </a:lnSpc>
              <a:buNone/>
            </a:pPr>
            <a:br>
              <a:rPr sz="4400"/>
            </a:br>
            <a:r>
              <a:rPr b="1" lang="en-IN" sz="3600" spc="-1" strike="noStrike">
                <a:solidFill>
                  <a:schemeClr val="dk1"/>
                </a:solidFill>
                <a:latin typeface="Times New Roman"/>
                <a:ea typeface="Cambria"/>
              </a:rPr>
              <a:t>7. Research Paper Progress</a:t>
            </a:r>
            <a:br>
              <a:rPr sz="44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536480"/>
            <a:ext cx="10515240" cy="505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Architecture Design: The system architecture comprising the user interface layer, backend processing layer, LLM processing layer, post-processing layer, and data intelligence layer has been finalized.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Literature Review Completion: A comprehensive review of transformer-based models, prompt engineering techniques, and prior email automation systems has been completed and documented.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Prototype System Development: An initial prototype demonstrating core email generation, summarization, and tone rewriting capabilities has been developed and tested.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Experimental Evaluation: Benchmarking and evaluation metrics for measuring productivity improvements, response quality, and user satisfaction are being defined for systematic assessment.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5" name="Picture 2" descr=""/>
          <p:cNvPicPr/>
          <p:nvPr/>
        </p:nvPicPr>
        <p:blipFill>
          <a:blip r:embed="rId1"/>
          <a:stretch/>
        </p:blipFill>
        <p:spPr>
          <a:xfrm>
            <a:off x="914400" y="170280"/>
            <a:ext cx="9907560" cy="58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681120"/>
            <a:ext cx="10515240" cy="83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2506"/>
          </a:bodyPr>
          <a:p>
            <a:pPr indent="0" algn="ctr" defTabSz="914400">
              <a:lnSpc>
                <a:spcPct val="90000"/>
              </a:lnSpc>
              <a:buNone/>
            </a:pPr>
            <a:br>
              <a:rPr sz="4400"/>
            </a:br>
            <a:r>
              <a:rPr b="1" lang="en-US" sz="3600" spc="-1" strike="noStrike">
                <a:solidFill>
                  <a:schemeClr val="dk1"/>
                </a:solidFill>
                <a:latin typeface="Times New Roman"/>
              </a:rPr>
              <a:t>8.References</a:t>
            </a:r>
            <a:br>
              <a:rPr sz="44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513800"/>
            <a:ext cx="10515240" cy="534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[1] Vaswani, A. et al., "Attention Is All You Need," Advances in Neural Information Processing Systems (NeurIPS), 2017.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[2] Schulhoff, S. et al., "The Prompt Report: A Systematic Survey of Prompting Techniques," arXiv preprint, 2024.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[3] Google, "Gemini API Reference," Google AI for Developers, 2024. [Online]. Available: https://ai.google.dev/docs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[4] Al-Debagy, O. and Martinek, P., "A Comparative Review of Microservices and Monolithic Architectures," Budapest University of Technology and Economics, 2018.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[5] Dilip, K., "Review on SMTP Protocol for E-Mail Systems," Galgotias University, Department of Computer Science and Engineering, 2020.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[6] Chen, M. et al., "Leveraging Generative AI in Enterprise Applications," IEEE Conference on AI and Business Operations, 2023.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8" name="Picture 2" descr=""/>
          <p:cNvPicPr/>
          <p:nvPr/>
        </p:nvPicPr>
        <p:blipFill>
          <a:blip r:embed="rId1"/>
          <a:stretch/>
        </p:blipFill>
        <p:spPr>
          <a:xfrm>
            <a:off x="914400" y="170280"/>
            <a:ext cx="9907560" cy="51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2024-07-02T10:49:33Z</dcterms:created>
  <dc:creator>Arjun Singh</dc:creator>
  <dc:description/>
  <dc:language>en-US</dc:language>
  <cp:lastModifiedBy/>
  <dcterms:modified xsi:type="dcterms:W3CDTF">2026-04-07T19:04:44Z</dcterms:modified>
  <cp:revision>35</cp:revision>
  <dc:subject/>
  <dc:title>ICSCAI 2024 4,5,6 July 2024,LLOYD Institute of Engineering &amp; Technology Greater Noida,India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