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9314a092a_0_0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d9314a092a_0_0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d9314a092a_0_0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vatsal/me/final-year/email/slide1_render.png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" y="175"/>
            <a:ext cx="12191398" cy="685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0" y="1783080"/>
            <a:ext cx="121914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37" name="Google Shape;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914400" y="219456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Introduction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914400" y="267012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Research Objectives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914400" y="314568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Literature Survey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914400" y="362088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Proposed Model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914400" y="409644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Discussion About Methodology &amp; Algorithm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914400" y="457200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Conclusion &amp; Future Work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914400" y="504756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Research Paper Progress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914400" y="5523120"/>
            <a:ext cx="10240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References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2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1783080"/>
            <a:ext cx="121914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1.Introduction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53" name="Google Shape;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/>
          <p:nvPr/>
        </p:nvSpPr>
        <p:spPr>
          <a:xfrm>
            <a:off x="914400" y="2606040"/>
            <a:ext cx="1024092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remains one of the most widely used communication channels globally, with over 300 billion emails sent daily across professional and personal domains.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914400" y="3520440"/>
            <a:ext cx="1024092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email drafting is time-consuming, repetitive, and often lacks personalization, leading to reduced productivity in enterprise environments.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914400" y="4434840"/>
            <a:ext cx="102409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Recent advances in Large Language Models (LLMs) offer a transformative approach to intelligent email automation, enabling context-aware generation, summarization, and personalized communication at scale.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914400" y="5468040"/>
            <a:ext cx="1024092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proposes an AI-powered email automation platform that leverages LLM capabilities to generate professional email drafts, summarize threads, rewrite content in different tones, classify emails, and detect priority levels.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3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0" y="1783080"/>
            <a:ext cx="121914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2.Research Objectives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/>
          <p:nvPr/>
        </p:nvSpPr>
        <p:spPr>
          <a:xfrm>
            <a:off x="868680" y="2331720"/>
            <a:ext cx="10469520" cy="51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978480" y="2423160"/>
            <a:ext cx="102499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Develop an inbox-native interaction layer that captures active conversation context from webmail clients without interrupting the user workflow.</a:t>
            </a:r>
            <a:endParaRPr b="0" sz="12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868680" y="3044880"/>
            <a:ext cx="10469520" cy="51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978480" y="3136320"/>
            <a:ext cx="102499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Design a context-preserving orchestration layer with token budgeting, preference caching, and task-aware routing.</a:t>
            </a:r>
            <a:endParaRPr b="0" sz="12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868680" y="3758040"/>
            <a:ext cx="10469520" cy="51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978480" y="3849480"/>
            <a:ext cx="102499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Incorporate memory-aware personalization for tone control, signature reuse, and sender-specific response policy.</a:t>
            </a:r>
            <a:endParaRPr b="0" sz="12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868680" y="4471560"/>
            <a:ext cx="10469520" cy="51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978480" y="4563000"/>
            <a:ext cx="102499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Introduce observability for latency, token consumption, estimated cost, and routing efficiency.</a:t>
            </a:r>
            <a:endParaRPr b="0" sz="12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868680" y="5184720"/>
            <a:ext cx="10469520" cy="51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978480" y="5276160"/>
            <a:ext cx="102499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Ensure resilience through fallback inference, graceful degradation, and rate-limit-tolerant request handling under upstream service constraints.</a:t>
            </a:r>
            <a:endParaRPr b="0" sz="12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4</a:t>
            </a:r>
            <a:endParaRPr b="0" sz="7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/>
          <p:nvPr/>
        </p:nvSpPr>
        <p:spPr>
          <a:xfrm>
            <a:off x="0" y="1783080"/>
            <a:ext cx="121914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3.Literature Survey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9"/>
          <p:cNvSpPr/>
          <p:nvPr/>
        </p:nvSpPr>
        <p:spPr>
          <a:xfrm>
            <a:off x="731520" y="2331720"/>
            <a:ext cx="210276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786240" y="2404800"/>
            <a:ext cx="199296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Approach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2880360" y="2331720"/>
            <a:ext cx="15541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935080" y="2404800"/>
            <a:ext cx="14443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4480560" y="2331720"/>
            <a:ext cx="24685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4535280" y="2404800"/>
            <a:ext cx="23587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6995160" y="2331720"/>
            <a:ext cx="40687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7049880" y="2404800"/>
            <a:ext cx="3958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Our System Is Different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731520" y="2971800"/>
            <a:ext cx="210276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786240" y="3044880"/>
            <a:ext cx="199296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compose systems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2880360" y="2971800"/>
            <a:ext cx="15541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2935080" y="3044880"/>
            <a:ext cx="14443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completion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4480560" y="2971800"/>
            <a:ext cx="24685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4535280" y="3044880"/>
            <a:ext cx="23587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full-thread reasoning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6995160" y="2971800"/>
            <a:ext cx="40687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7049880" y="3044880"/>
            <a:ext cx="3958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complete conversation context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731520" y="3611880"/>
            <a:ext cx="210276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786240" y="3684960"/>
            <a:ext cx="199296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LLM use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2880360" y="3611880"/>
            <a:ext cx="15541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2935080" y="3684960"/>
            <a:ext cx="14443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Flexible prompting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4480560" y="3611880"/>
            <a:ext cx="24685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4535280" y="3684960"/>
            <a:ext cx="23587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 breaks on context transfer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6995160" y="3611880"/>
            <a:ext cx="40687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7049880" y="3684960"/>
            <a:ext cx="3958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in inbox workflow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731520" y="4251960"/>
            <a:ext cx="210276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786240" y="4325040"/>
            <a:ext cx="199296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copilots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2880360" y="4251960"/>
            <a:ext cx="15541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2935080" y="4325040"/>
            <a:ext cx="14443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integration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4480560" y="4251960"/>
            <a:ext cx="24685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4535280" y="4325040"/>
            <a:ext cx="23587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Opaque routing/cost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6995160" y="4251960"/>
            <a:ext cx="40687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7049880" y="4325040"/>
            <a:ext cx="3958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 telemetry and routing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731520" y="4892040"/>
            <a:ext cx="210276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786240" y="4965120"/>
            <a:ext cx="199296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Template-based systems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2880360" y="4892040"/>
            <a:ext cx="15541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2935080" y="4965120"/>
            <a:ext cx="14443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Deterministic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4480560" y="4892040"/>
            <a:ext cx="24685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4535280" y="4965120"/>
            <a:ext cx="23587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tone adaptation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6995160" y="4892040"/>
            <a:ext cx="4068720" cy="529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7049880" y="4965120"/>
            <a:ext cx="395892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Context-aware generation</a:t>
            </a:r>
            <a:endParaRPr b="0" sz="102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758818" y="5536620"/>
            <a:ext cx="10469400" cy="529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868680" y="5628073"/>
            <a:ext cx="102498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gap: A browser-native, context-preserving, cost-aware, and provider-flexible email orchestration system with explicit telemetry and evaluation.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5</a:t>
            </a:r>
            <a:endParaRPr b="0" sz="7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/>
          <p:nvPr/>
        </p:nvSpPr>
        <p:spPr>
          <a:xfrm>
            <a:off x="49825" y="1565043"/>
            <a:ext cx="12191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4.Proposed Model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133" name="Google Shape;1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0"/>
          <p:cNvSpPr/>
          <p:nvPr/>
        </p:nvSpPr>
        <p:spPr>
          <a:xfrm>
            <a:off x="568175" y="2183000"/>
            <a:ext cx="10879800" cy="35316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proposed_model.png" id="135" name="Google Shape;1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4176" y="2259249"/>
            <a:ext cx="8955574" cy="34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0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6</a:t>
            </a:r>
            <a:endParaRPr b="0" sz="7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/>
          <p:nvPr/>
        </p:nvSpPr>
        <p:spPr>
          <a:xfrm>
            <a:off x="0" y="1371600"/>
            <a:ext cx="121914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5.Discussion About Methodology &amp; Algorithm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143" name="Google Shape;1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1"/>
          <p:cNvSpPr/>
          <p:nvPr/>
        </p:nvSpPr>
        <p:spPr>
          <a:xfrm>
            <a:off x="1097650" y="1828800"/>
            <a:ext cx="10332300" cy="1696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processing_pipeline.png" id="145" name="Google Shape;14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9880" y="1856520"/>
            <a:ext cx="7601400" cy="15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1"/>
          <p:cNvSpPr/>
          <p:nvPr/>
        </p:nvSpPr>
        <p:spPr>
          <a:xfrm>
            <a:off x="960130" y="4007625"/>
            <a:ext cx="5211600" cy="2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Extract the active thread and assemble a bounded conversation context.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Normalize the thread by removing UI noise and unnecessary fragments.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Resolve user memory, tone, signature, and default profile.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Route the task to the appropriate OpenRouter-backed profile.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6080405" y="4007625"/>
            <a:ext cx="52116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Generate the output with task-specific prompts and context constraints.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Parse structured metadata such as confidence, priority, and action items.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Record telemetry including route reason, latency, token usage, and estimated cost.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Render the result in the interface and persist the action history.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7</a:t>
            </a:r>
            <a:endParaRPr b="0" sz="7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1"/>
          <p:cNvSpPr txBox="1"/>
          <p:nvPr/>
        </p:nvSpPr>
        <p:spPr>
          <a:xfrm>
            <a:off x="-457200" y="457200"/>
            <a:ext cx="1807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/>
          <p:nvPr/>
        </p:nvSpPr>
        <p:spPr>
          <a:xfrm>
            <a:off x="0" y="1783080"/>
            <a:ext cx="121914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6.Conclusion &amp; Future Work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156" name="Google Shape;1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40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2"/>
          <p:cNvSpPr/>
          <p:nvPr/>
        </p:nvSpPr>
        <p:spPr>
          <a:xfrm>
            <a:off x="868680" y="2331720"/>
            <a:ext cx="18284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868680" y="2633400"/>
            <a:ext cx="530316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∙"/>
            </a:pPr>
            <a:r>
              <a:rPr b="0" lang="en-US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shows that email automation becomes substantially more effective when generation is combined with thread context, model routing, and preference memory.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868680" y="3246120"/>
            <a:ext cx="530316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∙"/>
            </a:pPr>
            <a:r>
              <a:rPr b="0" lang="en-US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shifts email handling from manual drafting to an intelligent orchestration workflow with visible cost and latency trade-offs.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868680" y="3840480"/>
            <a:ext cx="530316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-177840" lvl="0" marL="17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∙"/>
            </a:pPr>
            <a:r>
              <a:rPr b="0" lang="en-US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architecture also improves explainability through route reason, structured metadata, and telemetry.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6492240" y="2331720"/>
            <a:ext cx="18284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6400800" y="2651760"/>
            <a:ext cx="4663080" cy="383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6510600" y="2743200"/>
            <a:ext cx="4443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Stronger Outlook parsing and layout stabilization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6400800" y="3218760"/>
            <a:ext cx="4663080" cy="383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6510600" y="3310200"/>
            <a:ext cx="4443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Attachment-aware summarization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6400800" y="3785760"/>
            <a:ext cx="4663080" cy="383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6510600" y="3877200"/>
            <a:ext cx="4443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 support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6400800" y="4352400"/>
            <a:ext cx="4663080" cy="383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6510600" y="4443840"/>
            <a:ext cx="4443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Persistent long-term memory storage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6400800" y="4919400"/>
            <a:ext cx="4663080" cy="383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6510600" y="5010840"/>
            <a:ext cx="4443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Controlled user studies and quality scoring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10972800" y="6455520"/>
            <a:ext cx="822600" cy="10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8</a:t>
            </a:r>
            <a:endParaRPr b="0" sz="7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/>
          <p:nvPr/>
        </p:nvSpPr>
        <p:spPr>
          <a:xfrm>
            <a:off x="82450" y="1365155"/>
            <a:ext cx="12191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7.Demonstration and Evaluation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niot_logo.png" id="179" name="Google Shape;1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3080"/>
            <a:ext cx="10286639" cy="10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3"/>
          <p:cNvSpPr/>
          <p:nvPr/>
        </p:nvSpPr>
        <p:spPr>
          <a:xfrm>
            <a:off x="868680" y="2377440"/>
            <a:ext cx="2011200" cy="54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978480" y="2468880"/>
            <a:ext cx="1791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definition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3108960" y="2377440"/>
            <a:ext cx="2011200" cy="54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3218760" y="2468880"/>
            <a:ext cx="1791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5349240" y="2377440"/>
            <a:ext cx="2011200" cy="54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5459040" y="2468880"/>
            <a:ext cx="1791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implementation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7589520" y="2377440"/>
            <a:ext cx="2011200" cy="54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7699320" y="2468880"/>
            <a:ext cx="1791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tuning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9829800" y="2377440"/>
            <a:ext cx="2011200" cy="54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9939600" y="2468880"/>
            <a:ext cx="1791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writing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868680" y="3200400"/>
            <a:ext cx="3657300" cy="2011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gmail_summary.png" id="191" name="Google Shape;1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450" y="3220200"/>
            <a:ext cx="4182374" cy="245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3"/>
          <p:cNvSpPr/>
          <p:nvPr/>
        </p:nvSpPr>
        <p:spPr>
          <a:xfrm>
            <a:off x="4572000" y="3200400"/>
            <a:ext cx="3565800" cy="2011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memory_personalization.png" id="193" name="Google Shape;1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3200400"/>
            <a:ext cx="3926879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3"/>
          <p:cNvSpPr/>
          <p:nvPr/>
        </p:nvSpPr>
        <p:spPr>
          <a:xfrm>
            <a:off x="8229600" y="3200400"/>
            <a:ext cx="3108600" cy="2011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vatsal/me/final-year/email/email/dashboard.png" id="195" name="Google Shape;19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66320" y="3200400"/>
            <a:ext cx="384948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/>
          <p:nvPr/>
        </p:nvSpPr>
        <p:spPr>
          <a:xfrm>
            <a:off x="10972800" y="6455520"/>
            <a:ext cx="8226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strike="noStrik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9</a:t>
            </a:r>
            <a:endParaRPr b="0" sz="7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>
            <p:ph type="title"/>
          </p:nvPr>
        </p:nvSpPr>
        <p:spPr>
          <a:xfrm>
            <a:off x="838080" y="681120"/>
            <a:ext cx="10515240" cy="83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2506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br>
              <a:rPr lang="en-US" sz="4400"/>
            </a:br>
            <a:r>
              <a:rPr b="1" lang="en-US" sz="36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8.References</a:t>
            </a:r>
            <a:br>
              <a:rPr lang="en-US" sz="4400"/>
            </a:br>
            <a:endParaRPr b="0" sz="36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 txBox="1"/>
          <p:nvPr>
            <p:ph idx="1" type="body"/>
          </p:nvPr>
        </p:nvSpPr>
        <p:spPr>
          <a:xfrm>
            <a:off x="838080" y="1513800"/>
            <a:ext cx="10515240" cy="53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Vaswani, A. et al., "Attention Is All You Need," Advances in Neural Information Processing Systems (NeurIPS), 2017.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Schulhoff, S. et al., "The Prompt Report: A Systematic Survey of Prompting Techniques," arXiv preprint, 2024.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Google, "Gemini API Reference," Google AI for Developers, 2024. [Online]. Available: https://ai.google.dev/docs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Al-Debagy, O. and Martinek, P., "A Comparative Review of Microservices and Monolithic Architectures," Budapest University of Technology and Economics, 2018.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Dilip, K., "Review on SMTP Protocol for E-Mail Systems," Galgotias University, Department of Computer Science and Engineering, 2020.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Chen, M. et al., "Leveraging Generative AI in Enterprise Applications," IEEE Conference on AI and Business Operations, 2023.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70280"/>
            <a:ext cx="9907560" cy="51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